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Repo: github.com/xnatworks/xnat_tutorial_datasets. Hosted demo: https://demo.pro.xnatworks.io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tutorials/intro/01-load-sample-data.md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tutorials/intro/02-xnat-hierarchy.md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tutorials/intro/03-dicom-import-archive.md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tutorials/intro/04-dicom-headers.md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tutorials/intro/05-viewer-basics.md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tutorials/intro/06-resource-browser.md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tutorials/intro/07-search-and-export.md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tutorials/intro/08-bids-as-resource.md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tutorials/intro/09-niivue-overlays.md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tutorials/intermediate/01-dcm2niix.md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tutorials/intermediate/02-deidentification.md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tutorials/intermediate/03-bids-validation.md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tutorials/intermediate/04-dicom-to-bids.md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tutorials/intermediate/05-container-basics.md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tutorials/intermediate/06-mriqc-assessor.md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tutorials/intermediate/07-dynamic-datatype.md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tutorials/intermediate/08-custom-forms.md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tutorials/intermediate/09-preclinical-mri.md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tutorials/advanced/01-complete-bids.md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tutorials/advanced/02-nnunet-dataset.md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tutorials/advanced/03-rabies-rodent-fmri.md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tutorials/advanced/04-fitlins-group.md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tutorials/advanced/05-totalsegmentator.md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tutorials/admin/01-event-service.md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tutorials/admin/02-command-enablement.md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tutorials/admin/03-plugin-loader-admin.md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XNAT Tutorials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Pick-and-mix lesson catalog</a:t>
            </a:r>
          </a:p>
          <a:p>
            <a:r>
              <a:t>https://demo.pro.xnatworks.io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200"/>
              <a:t>9 intro lessons — UI-only, 5-15 min, no terminal</a:t>
            </a:r>
          </a:p>
          <a:p>
            <a:pPr/>
            <a:r>
              <a:rPr sz="2200"/>
              <a:t>9 intermediate lessons — one tool or concept, 15-30 min</a:t>
            </a:r>
          </a:p>
          <a:p>
            <a:pPr/>
            <a:r>
              <a:rPr sz="2200"/>
              <a:t>5 advanced lessons — multi-step pipelines, 30+ min</a:t>
            </a:r>
          </a:p>
          <a:p>
            <a:pPr/>
            <a:r>
              <a:rPr sz="2200"/>
              <a:t>3 admin lessons — site configuration</a:t>
            </a:r>
          </a:p>
          <a:p>
            <a:pPr lvl="1"/>
            <a:r>
              <a:rPr sz="1800"/>
              <a:t>Plus glossary, REST cheatsheet, workshop agendas, dataset cards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Each intro / intermediate lesson answers four checkpoints</a:t>
            </a:r>
          </a:p>
          <a:p>
            <a:pPr lvl="1"/>
            <a:r>
              <a:rPr sz="1800"/>
              <a:t>what changes in XNAT</a:t>
            </a:r>
          </a:p>
          <a:p>
            <a:pPr lvl="1"/>
            <a:r>
              <a:rPr sz="1800"/>
              <a:t>where to look</a:t>
            </a:r>
          </a:p>
          <a:p>
            <a:pPr lvl="1"/>
            <a:r>
              <a:rPr sz="1800"/>
              <a:t>exact success condition</a:t>
            </a:r>
          </a:p>
          <a:p>
            <a:pPr lvl="1"/>
            <a:r>
              <a:rPr sz="1800"/>
              <a:t>where to look first if it fails</a:t>
            </a:r>
          </a:p>
          <a:p>
            <a:pPr/>
            <a:r>
              <a:rPr sz="2000"/>
              <a:t>Advanced lessons drop the scaffold for readability</a:t>
            </a:r>
          </a:p>
          <a:p>
            <a:pPr/>
            <a:r>
              <a:rPr sz="2000"/>
              <a:t>Datasets are referenced by id and have one-page reference cards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 — UI-only, 5-15 min, no terminal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sample data into XNAT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any from</a:t>
            </a:r>
          </a:p>
          <a:p>
            <a:pPr/>
            <a:r>
              <a:rPr sz="2000"/>
              <a:t>Goal: Get a tutorial dataset into XNAT before the rest of the lessons need it.</a:t>
            </a:r>
          </a:p>
          <a:p>
            <a:pPr lvl="1"/>
            <a:r>
              <a:rPr sz="1600"/>
              <a:t>1. Log in to XNAT.</a:t>
            </a:r>
          </a:p>
          <a:p>
            <a:pPr lvl="1"/>
            <a:r>
              <a:rPr sz="1600"/>
              <a:t>2. Open Tools → XNAT Tutorial &amp; Walkthrough, or open any project's</a:t>
            </a:r>
          </a:p>
          <a:p>
            <a:pPr lvl="1"/>
            <a:r>
              <a:rPr sz="1600"/>
              <a:t>3. Pick the dataset the lesson recommends. Most lessons use</a:t>
            </a:r>
          </a:p>
          <a:p>
            <a:pPr lvl="1"/>
            <a:r>
              <a:rPr sz="1600"/>
              <a:t>4. Use the suggested project ID unless your course gives a different one.</a:t>
            </a:r>
          </a:p>
          <a:p>
            <a:pPr lvl="1"/>
            <a:r>
              <a:rPr sz="1600"/>
              <a:t>5. Click Prepare and wait for the loader to report success.</a:t>
            </a:r>
          </a:p>
          <a:p>
            <a:pPr/>
            <a:r>
              <a:rPr sz="1800"/>
              <a:t>Verify: The project appears in **Browse → Projects** and contains at least one subject, session, scan, or named resource.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 the XNAT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`tcia_dicom_intro`</a:t>
            </a:r>
          </a:p>
          <a:p>
            <a:pPr/>
            <a:r>
              <a:rPr sz="2000"/>
              <a:t>Goal: Be able to point at every level XNAT uses to organise data: project, subject, session, scan, resource.</a:t>
            </a:r>
          </a:p>
          <a:p>
            <a:pPr lvl="1"/>
            <a:r>
              <a:rPr sz="1600"/>
              <a:t>1. Load tcia_dicom_intro into project XNAT_TUTORIAL_DICOM using</a:t>
            </a:r>
          </a:p>
          <a:p>
            <a:pPr lvl="1"/>
            <a:r>
              <a:rPr sz="1600"/>
              <a:t>2. Open the project page. Note the title, ID, and accessibility line.</a:t>
            </a:r>
          </a:p>
          <a:p>
            <a:pPr lvl="1"/>
            <a:r>
              <a:rPr sz="1600"/>
              <a:t>3. Open the subject list and click the first subject.</a:t>
            </a:r>
          </a:p>
          <a:p>
            <a:pPr lvl="1"/>
            <a:r>
              <a:rPr sz="1600"/>
              <a:t>4. Open the imaging session listed under that subject.</a:t>
            </a:r>
          </a:p>
          <a:p>
            <a:pPr lvl="1"/>
            <a:r>
              <a:rPr sz="1600"/>
              <a:t>5. Find the scan table on the session report page.</a:t>
            </a:r>
          </a:p>
          <a:p>
            <a:pPr/>
            <a:r>
              <a:rPr sz="1800"/>
              <a:t>Verify: The project has at least one subject, one session, one scan, and one scan-level DICOM resource that contains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DICOM import and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`tcia_dicom_intro`</a:t>
            </a:r>
          </a:p>
          <a:p>
            <a:pPr/>
            <a:r>
              <a:rPr sz="2000"/>
              <a:t>Goal: See how XNAT routes incoming DICOM into project / subject / session / scan records, and learn the difference between **prearchive** and **archive**.</a:t>
            </a:r>
          </a:p>
          <a:p>
            <a:pPr lvl="1"/>
            <a:r>
              <a:rPr sz="1600"/>
              <a:t>1. Load tcia_dicom_intro into XNAT_TUTORIAL_DICOM.</a:t>
            </a:r>
          </a:p>
          <a:p>
            <a:pPr lvl="1"/>
            <a:r>
              <a:rPr sz="1600"/>
              <a:t>2. Open Upload → Go to Prearchive.</a:t>
            </a:r>
          </a:p>
          <a:p>
            <a:pPr lvl="1"/>
            <a:r>
              <a:rPr sz="1600"/>
              <a:t>3. Look for a row matching XNAT_TUTORIAL_DICOM.</a:t>
            </a:r>
          </a:p>
          <a:p>
            <a:pPr lvl="1"/>
            <a:r>
              <a:rPr sz="1600"/>
              <a:t>4. If the row is present and ready, select it and choose Archive (or the</a:t>
            </a:r>
          </a:p>
          <a:p>
            <a:pPr lvl="1"/>
            <a:r>
              <a:rPr sz="1600"/>
              <a:t>5. Open XNAT_TUTORIAL_DICOM and find the imported subject and session.</a:t>
            </a:r>
          </a:p>
          <a:p>
            <a:pPr/>
            <a:r>
              <a:rPr sz="1800"/>
              <a:t>Verify: The tutorial project contains an archived imaging session with a DICOM resource on its scan.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DICOM headers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`tcia_pseudo_phi_deid`</a:t>
            </a:r>
          </a:p>
          <a:p>
            <a:pPr/>
            <a:r>
              <a:rPr sz="2000"/>
              <a:t>Goal: Open a DICOM file's tags and tell the difference between routing metadata (used by XNAT to organise data) and patient metadata (privacy-sensitive).</a:t>
            </a:r>
          </a:p>
          <a:p>
            <a:pPr lvl="1"/>
            <a:r>
              <a:rPr sz="1600"/>
              <a:t>1. Load tcia_pseudo_phi_deid into XNAT_TUTORIAL_DEID.</a:t>
            </a:r>
          </a:p>
          <a:p>
            <a:pPr lvl="1"/>
            <a:r>
              <a:rPr sz="1600"/>
              <a:t>2. Open the project, the subject, and the CT session.</a:t>
            </a:r>
          </a:p>
          <a:p>
            <a:pPr lvl="1"/>
            <a:r>
              <a:rPr sz="1600"/>
              <a:t>3. Open the scan, then the DICOM resource.</a:t>
            </a:r>
          </a:p>
          <a:p>
            <a:pPr lvl="1"/>
            <a:r>
              <a:rPr sz="1600"/>
              <a:t>4. Click a DICOM file and open the headers / tag view.</a:t>
            </a:r>
          </a:p>
          <a:p>
            <a:pPr lvl="1"/>
            <a:r>
              <a:rPr sz="1600"/>
              <a:t>5. Find these fields:</a:t>
            </a:r>
          </a:p>
          <a:p>
            <a:pPr/>
            <a:r>
              <a:rPr sz="1800"/>
              <a:t>Verify: You can name **Modality** and **SeriesDescription** in a header, and point at one field that looks like PHI.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a scan in the 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`tcia_dicom_intro`</a:t>
            </a:r>
          </a:p>
          <a:p>
            <a:pPr/>
            <a:r>
              <a:rPr sz="2000"/>
              <a:t>Goal: Launch the installed image viewer from XNAT and connect what you see in the viewer to the scan it came from.</a:t>
            </a:r>
          </a:p>
          <a:p>
            <a:pPr lvl="1"/>
            <a:r>
              <a:rPr sz="1600"/>
              <a:t>1. Load tcia_dicom_intro into XNAT_TUTORIAL_DICOM.</a:t>
            </a:r>
          </a:p>
          <a:p>
            <a:pPr lvl="1"/>
            <a:r>
              <a:rPr sz="1600"/>
              <a:t>2. Open the imaging session.</a:t>
            </a:r>
          </a:p>
          <a:p>
            <a:pPr lvl="1"/>
            <a:r>
              <a:rPr sz="1600"/>
              <a:t>3. In the session Actions box, choose the viewer action installed on</a:t>
            </a:r>
          </a:p>
          <a:p>
            <a:pPr lvl="1"/>
            <a:r>
              <a:rPr sz="1600"/>
              <a:t>4. Wait for the viewer to load. Scroll through slices.</a:t>
            </a:r>
          </a:p>
          <a:p>
            <a:pPr lvl="1"/>
            <a:r>
              <a:rPr sz="1600"/>
              <a:t>5. If the viewer shows multiple scans, pick one.</a:t>
            </a:r>
          </a:p>
          <a:p>
            <a:pPr/>
            <a:r>
              <a:rPr sz="1800"/>
              <a:t>Verify: Given the viewer image, you can find the same scan ID in XNAT's scan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`openneuro_flanker_bids`</a:t>
            </a:r>
          </a:p>
          <a:p>
            <a:pPr/>
            <a:r>
              <a:rPr sz="2000"/>
              <a:t>Goal: Understand that **resources** are named file collections that can attach to a project, session, scan, or assessor — different levels store different files for different reasons.</a:t>
            </a:r>
          </a:p>
          <a:p>
            <a:pPr lvl="1"/>
            <a:r>
              <a:rPr sz="1600"/>
              <a:t>1. Load openneuro_flanker_bids into XNAT_TUTORIAL_BIDS.</a:t>
            </a:r>
          </a:p>
          <a:p>
            <a:pPr lvl="1"/>
            <a:r>
              <a:rPr sz="1600"/>
              <a:t>2. Open the project page.</a:t>
            </a:r>
          </a:p>
          <a:p>
            <a:pPr lvl="1"/>
            <a:r>
              <a:rPr sz="1600"/>
              <a:t>3. Find the project resources panel and open the BIDS resource.</a:t>
            </a:r>
          </a:p>
          <a:p>
            <a:pPr lvl="1"/>
            <a:r>
              <a:rPr sz="1600"/>
              <a:t>4. Open dataset_description.json.</a:t>
            </a:r>
          </a:p>
          <a:p>
            <a:pPr lvl="1"/>
            <a:r>
              <a:rPr sz="1600"/>
              <a:t>5. Go back to the project. Open a subject, then the session.</a:t>
            </a:r>
          </a:p>
          <a:p>
            <a:pPr/>
            <a:r>
              <a:rPr sz="1800"/>
              <a:t>Verify: You can open one project-level file and one scan- or session-level file in the same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Search, filter, and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`openneuro_flanker_bids`</a:t>
            </a:r>
          </a:p>
          <a:p>
            <a:pPr/>
            <a:r>
              <a:rPr sz="2000"/>
              <a:t>Goal: Find a known project / subject / session quickly, narrow a list with filters, and download a small file.</a:t>
            </a:r>
          </a:p>
          <a:p>
            <a:pPr lvl="1"/>
            <a:r>
              <a:rPr sz="1600"/>
              <a:t>1. Load openneuro_flanker_bids into XNAT_TUTORIAL_BIDS.</a:t>
            </a:r>
          </a:p>
          <a:p>
            <a:pPr lvl="1"/>
            <a:r>
              <a:rPr sz="1600"/>
              <a:t>2. Use the top-bar search box. Type the project ID, a subject label, or a</a:t>
            </a:r>
          </a:p>
          <a:p>
            <a:pPr lvl="1"/>
            <a:r>
              <a:rPr sz="1600"/>
              <a:t>3. If XNAT shows multiple matches, pick the matching row from the grouped</a:t>
            </a:r>
          </a:p>
          <a:p>
            <a:pPr lvl="1"/>
            <a:r>
              <a:rPr sz="1600"/>
              <a:t>4. Return to Browse → Projects (or use the Subjects / MR / PET / CT</a:t>
            </a:r>
          </a:p>
          <a:p>
            <a:pPr lvl="1"/>
            <a:r>
              <a:rPr sz="1600"/>
              <a:t>5. Open the project. Use the column filter on the subject or session table</a:t>
            </a:r>
          </a:p>
          <a:p>
            <a:pPr/>
            <a:r>
              <a:rPr sz="1800"/>
              <a:t>Verify: You have participants.tsv (or another small metadata file) downloaded locally.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BIDS as an XNAT resource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`openneuro_flanker_bids`</a:t>
            </a:r>
          </a:p>
          <a:p>
            <a:pPr/>
            <a:r>
              <a:rPr sz="2000"/>
              <a:t>Goal: Recognise a BIDS dataset stored as an XNAT resource and tell the difference between a BIDS resource (a file tree following BIDS conventions) and a DICOM scan table.</a:t>
            </a:r>
          </a:p>
          <a:p>
            <a:pPr lvl="1"/>
            <a:r>
              <a:rPr sz="1600"/>
              <a:t>1. Load openneuro_flanker_bids into XNAT_TUTORIAL_BIDS.</a:t>
            </a:r>
          </a:p>
          <a:p>
            <a:pPr lvl="1"/>
            <a:r>
              <a:rPr sz="1600"/>
              <a:t>2. Open the project, then the session.</a:t>
            </a:r>
          </a:p>
          <a:p>
            <a:pPr lvl="1"/>
            <a:r>
              <a:rPr sz="1600"/>
              <a:t>3. Open the session-level BIDS resource.</a:t>
            </a:r>
          </a:p>
          <a:p>
            <a:pPr lvl="1"/>
            <a:r>
              <a:rPr sz="1600"/>
              <a:t>4. Open dataset_description.json (dataset-level metadata).</a:t>
            </a:r>
          </a:p>
          <a:p>
            <a:pPr lvl="1"/>
            <a:r>
              <a:rPr sz="1600"/>
              <a:t>5. Open participants.tsv (subject-level metadata).</a:t>
            </a:r>
          </a:p>
          <a:p>
            <a:pPr/>
            <a:r>
              <a:rPr sz="1800"/>
              <a:t>Verify: You can locate dataset_description.json, participants.tsv, one *_T1w.nii.gz, and one *_events.tsv.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Atlases and overlays — Open with Workbench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`niivue_demo_images`</a:t>
            </a:r>
          </a:p>
          <a:p>
            <a:pPr/>
            <a:r>
              <a:rPr sz="2000"/>
              <a:t>Goal: Distinguish base images from atlas / label / overlay images, and load both into a NIfTI-aware viewer using **Open with Workbench**.</a:t>
            </a:r>
          </a:p>
          <a:p>
            <a:pPr lvl="1"/>
            <a:r>
              <a:rPr sz="1600"/>
              <a:t>1. Load niivue_demo_images into XNAT_TUTORIAL_NIIVUE.</a:t>
            </a:r>
          </a:p>
          <a:p>
            <a:pPr lvl="1"/>
            <a:r>
              <a:rPr sz="1600"/>
              <a:t>2. Open the project resources. The volumes import as a project-level</a:t>
            </a:r>
          </a:p>
          <a:p>
            <a:pPr lvl="1"/>
            <a:r>
              <a:rPr sz="1600"/>
              <a:t>3. Browse the resource file list. Pick three contrasting volumes, for</a:t>
            </a:r>
          </a:p>
          <a:p>
            <a:pPr lvl="1"/>
            <a:r>
              <a:rPr sz="1600"/>
              <a:t>4. On the base image (chris_t1.nii.gz), use Open with Workbench.</a:t>
            </a:r>
          </a:p>
          <a:p>
            <a:pPr lvl="1"/>
            <a:r>
              <a:rPr sz="1600"/>
              <a:t>5. From the Workbench overlay panel (or by returning to the resource</a:t>
            </a:r>
          </a:p>
          <a:p>
            <a:pPr/>
            <a:r>
              <a:rPr sz="1800"/>
              <a:t>Verify: You can identify one base image and one overlay or label volume by file name, and toggle the overlay on / off in Workbench.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Intermediate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Intermediate — one tool or concept, 15-30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DICOM to NIfTI with dcm2niix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`tcia_dicom_intro`</a:t>
            </a:r>
          </a:p>
          <a:p>
            <a:pPr/>
            <a:r>
              <a:rPr sz="2000"/>
              <a:t>Goal: Run a scan-level container, watch it complete in command history, and inspect the new NIfTI resource it writes back to the scan.</a:t>
            </a:r>
          </a:p>
          <a:p>
            <a:pPr/>
            <a:r>
              <a:rPr sz="1800"/>
              <a:t>Verify: ``bash curl -s -u ${XNAT_USER}:${XNAT_PASS} \ "${XNAT_HOST}/data/projects/${PROJECT}/experiments/${SESSION}/scans/${SCAN}/resources/NIFTI/files?format=json" \ | python3 -c 'import json,sys; [print(f["Name"], f["Size"]) for f in json.load(sys.stdin)["ResultSet"]["Result"]]' ``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De-identification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`tcia_pseudo_phi_deid`</a:t>
            </a:r>
          </a:p>
          <a:p>
            <a:pPr/>
            <a:r>
              <a:rPr sz="2000"/>
              <a:t>Goal: Compare DICOM headers before and after an anonymisation policy, and recognise the gotchas that policy-only thinking misses.</a:t>
            </a:r>
          </a:p>
          <a:p>
            <a:pPr lvl="1"/>
            <a:r>
              <a:rPr sz="1600"/>
              <a:t>1. Load tcia_pseudo_phi_deid into XNAT_TUTORIAL_DEID.</a:t>
            </a:r>
          </a:p>
          <a:p>
            <a:pPr lvl="1"/>
            <a:r>
              <a:rPr sz="1600"/>
              <a:t>2. Open the CT scan. Open one DICOM file's headers / tags view.</a:t>
            </a:r>
          </a:p>
          <a:p>
            <a:pPr lvl="1"/>
            <a:r>
              <a:rPr sz="1600"/>
              <a:t>3. List fields that look like PHI:</a:t>
            </a:r>
          </a:p>
          <a:p>
            <a:pPr lvl="1"/>
            <a:r>
              <a:rPr sz="1600"/>
              <a:t>4. Decide for each whether it should be removed, replaced,</a:t>
            </a:r>
          </a:p>
          <a:p>
            <a:pPr lvl="1"/>
            <a:r>
              <a:rPr sz="1600"/>
              <a:t>5. As an admin, open Administer → Site Administration → DICOM and</a:t>
            </a:r>
          </a:p>
          <a:p>
            <a:pPr/>
            <a:r>
              <a:rPr sz="1800"/>
              <a:t>Verify: You can name three DICOM fields the policy affected on this dataset.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BIDS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`openneuro_flanker_bids`</a:t>
            </a:r>
          </a:p>
          <a:p>
            <a:pPr/>
            <a:r>
              <a:rPr sz="2000"/>
              <a:t>Goal: Run the BIDS validator container against a `BIDS` resource and review the pass / fail report it stores back as an assessor.</a:t>
            </a:r>
          </a:p>
          <a:p>
            <a:pPr lvl="1"/>
            <a:r>
              <a:rPr sz="1600"/>
              <a:t>1. Load openneuro_flanker_bids into XNAT_TUTORIAL_BIDS (skip if</a:t>
            </a:r>
          </a:p>
          <a:p>
            <a:pPr lvl="1"/>
            <a:r>
              <a:rPr sz="1600"/>
              <a:t>2. Open the session and confirm the BIDS resource exists.</a:t>
            </a:r>
          </a:p>
          <a:p>
            <a:pPr lvl="1"/>
            <a:r>
              <a:rPr sz="1600"/>
              <a:t>3. Open the project Actions menu and launch bids-validator-v2.</a:t>
            </a:r>
          </a:p>
          <a:p>
            <a:pPr lvl="1"/>
            <a:r>
              <a:rPr sz="1600"/>
              <a:t>4. Confirm the wrapper uses the BIDS setup helper</a:t>
            </a:r>
          </a:p>
          <a:p>
            <a:pPr lvl="1"/>
            <a:r>
              <a:rPr sz="1600"/>
              <a:t>5. Submit the launch. Open command history and wait for both the main</a:t>
            </a:r>
          </a:p>
          <a:p>
            <a:pPr/>
            <a:r>
              <a:rPr sz="1800"/>
              <a:t>Verify: The session has a BIDS validator assessor with explicit pass / fail and a non-empty DATA resource.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DICOM to BIDS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`bidscoin_dicom_to_bids`</a:t>
            </a:r>
          </a:p>
          <a:p>
            <a:pPr/>
            <a:r>
              <a:rPr sz="2000"/>
              <a:t>Goal: Convert real DICOM into BIDS-shaped scan resources using the curated mapping and conversion containers. Recognise the difference between scan-level NIfTI / sidecar resources and a session-level `BIDS` tree.</a:t>
            </a:r>
          </a:p>
          <a:p>
            <a:pPr lvl="1"/>
            <a:r>
              <a:rPr sz="1600"/>
              <a:t>1. Load bidscoin_dicom_to_bids into XNAT_TUTORIAL_BIDSCOIN.</a:t>
            </a:r>
          </a:p>
          <a:p>
            <a:pPr lvl="1"/>
            <a:r>
              <a:rPr sz="1600"/>
              <a:t>2. Open the session. Confirm 11 scan rows; expected protocol/role mapping:</a:t>
            </a:r>
          </a:p>
          <a:p>
            <a:pPr lvl="1"/>
            <a:r>
              <a:rPr sz="1600"/>
              <a:t>3. Open scan 7 and inspect the DICOM headers</a:t>
            </a:r>
          </a:p>
          <a:p>
            <a:pPr lvl="1"/>
            <a:r>
              <a:rPr sz="1600"/>
              <a:t>4. Launch bids-mapping-generator from the session Actions menu. Wait</a:t>
            </a:r>
          </a:p>
          <a:p>
            <a:pPr lvl="1"/>
            <a:r>
              <a:rPr sz="1600"/>
              <a:t>5. Launch dcm2bids-session-v17 with skip unusable = true and</a:t>
            </a:r>
          </a:p>
          <a:p>
            <a:pPr/>
            <a:r>
              <a:rPr sz="1800"/>
              <a:t>Verify: Open the BIDS resource and locate one T1w NIfTI under sub-*/ses-*/anat/, one BOLD NIfTI under func/, and a fieldmap magnitude1 / phasediff pair under fmap/.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launch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`openneuro_flanker_bids`</a:t>
            </a:r>
          </a:p>
          <a:p>
            <a:pPr/>
            <a:r>
              <a:rPr sz="2000"/>
              <a:t>Goal: Understand that the **launch context** (where you click "Run Container") determines what XNAT mounts inside the container, and find the output resource the run produces.</a:t>
            </a:r>
          </a:p>
          <a:p>
            <a:pPr lvl="1"/>
            <a:r>
              <a:rPr sz="1600"/>
              <a:t>1. Open the project, session, scan, or resource the wrapper is scoped for.</a:t>
            </a:r>
          </a:p>
          <a:p>
            <a:pPr lvl="1"/>
            <a:r>
              <a:rPr sz="1600"/>
              <a:t>2. Open Run Containers in the right context. Pick the command.</a:t>
            </a:r>
          </a:p>
          <a:p>
            <a:pPr lvl="1"/>
            <a:r>
              <a:rPr sz="1600"/>
              <a:t>3. Read the launch dialog. Confirm the input path is what you expected</a:t>
            </a:r>
          </a:p>
          <a:p>
            <a:pPr lvl="1"/>
            <a:r>
              <a:rPr sz="1600"/>
              <a:t>4. Submit.</a:t>
            </a:r>
          </a:p>
          <a:p>
            <a:pPr lvl="1"/>
            <a:r>
              <a:rPr sz="1600"/>
              <a:t>5. Open command history. Watch the run move through Created →</a:t>
            </a:r>
          </a:p>
          <a:p>
            <a:pPr/>
            <a:r>
              <a:rPr sz="1800"/>
              <a:t>Verify: The source object now has a new output resource that did not exist before the run.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MRIQC assessor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`openneuro_flanker_bids`</a:t>
            </a:r>
          </a:p>
          <a:p>
            <a:pPr/>
            <a:r>
              <a:rPr sz="2000"/>
              <a:t>Goal: Run a real BIDS app (MRIQC) against a session-level `BIDS` resource and see the result land as an XNAT **assessor** linked to the session.</a:t>
            </a:r>
          </a:p>
          <a:p>
            <a:pPr lvl="1"/>
            <a:r>
              <a:rPr sz="1600"/>
              <a:t>1. Open the session and confirm the BIDS resource exists.</a:t>
            </a:r>
          </a:p>
          <a:p>
            <a:pPr lvl="1"/>
            <a:r>
              <a:rPr sz="1600"/>
              <a:t>2. Launch bids-mriqc-assessor from the session Actions menu.</a:t>
            </a:r>
          </a:p>
          <a:p>
            <a:pPr lvl="1"/>
            <a:r>
              <a:rPr sz="1600"/>
              <a:t>3. In the launch dialog confirm:</a:t>
            </a:r>
          </a:p>
          <a:p>
            <a:pPr lvl="1"/>
            <a:r>
              <a:rPr sz="1600"/>
              <a:t>4. Submit. Open command history.</a:t>
            </a:r>
          </a:p>
          <a:p>
            <a:pPr lvl="1"/>
            <a:r>
              <a:rPr sz="1600"/>
              <a:t>5. Watch three containers in order: setup helper → MRIQC → wrapup.</a:t>
            </a:r>
          </a:p>
          <a:p>
            <a:pPr/>
            <a:r>
              <a:rPr sz="1800"/>
              <a:t>Verify: You can open one MRIQC HTML report from inside the assessor's DATA resource.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`openneuro_ds002551_metadata`</a:t>
            </a:r>
          </a:p>
          <a:p>
            <a:pPr/>
            <a:r>
              <a:rPr sz="2000"/>
              <a:t>Goal: Add a new XNAT data type from the admin UI — without writing a plugin or restarting the server — and use it to capture searchable metadata.</a:t>
            </a:r>
          </a:p>
          <a:p>
            <a:pPr lvl="1"/>
            <a:r>
              <a:rPr sz="1600"/>
              <a:t>1. Load openneuro_ds002551_metadata. Open the project resource that</a:t>
            </a:r>
          </a:p>
          <a:p>
            <a:pPr lvl="1"/>
            <a:r>
              <a:rPr sz="1600"/>
              <a:t>2. Identify fields worth searching later:</a:t>
            </a:r>
          </a:p>
          <a:p>
            <a:pPr lvl="1"/>
            <a:r>
              <a:rPr sz="1600"/>
              <a:t>3. Open Administer → Data Types. Click Create Data Type.</a:t>
            </a:r>
          </a:p>
          <a:p>
            <a:pPr lvl="1"/>
            <a:r>
              <a:rPr sz="1600"/>
              <a:t>4. Choose Subject Assessor (the metadata describes the animal, not a</a:t>
            </a:r>
          </a:p>
          <a:p>
            <a:pPr lvl="1"/>
            <a:r>
              <a:rPr sz="1600"/>
              <a:t>5. Name the type Rodent Acquisition Metadata. Let XNAT auto-generate the</a:t>
            </a:r>
          </a:p>
          <a:p>
            <a:pPr/>
            <a:r>
              <a:rPr sz="1800"/>
              <a:t>Verify: You can find the record by filtering on Coil = Bruker Cryoprobe or Field strength = 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`openneuro_ds002551_metadata`</a:t>
            </a:r>
          </a:p>
          <a:p>
            <a:pPr/>
            <a:r>
              <a:rPr sz="2000"/>
              <a:t>Goal: Build a custom form, attach it to an existing dynamic data type, and confirm the form's values are searchable / filterable / exportable.</a:t>
            </a:r>
          </a:p>
          <a:p>
            <a:pPr lvl="1"/>
            <a:r>
              <a:rPr sz="1600"/>
              <a:t>1. Open Tools → Custom Forms → Manage Data Forms. Click Add New.</a:t>
            </a:r>
          </a:p>
          <a:p>
            <a:pPr lvl="1"/>
            <a:r>
              <a:rPr sz="1600"/>
              <a:t>2. Title the form, e.g. Rodent Acquisition Metadata.</a:t>
            </a:r>
          </a:p>
          <a:p>
            <a:pPr lvl="1"/>
            <a:r>
              <a:rPr sz="1600"/>
              <a:t>3. Bind it to the dynamic data type from the previous lesson.</a:t>
            </a:r>
          </a:p>
          <a:p>
            <a:pPr lvl="1"/>
            <a:r>
              <a:rPr sz="1600"/>
              <a:t>4. Choose scope: site-wide for re-use across projects, or project-scoped</a:t>
            </a:r>
          </a:p>
          <a:p>
            <a:pPr lvl="1"/>
            <a:r>
              <a:rPr sz="1600"/>
              <a:t>5. In the form builder, drag two or three components:</a:t>
            </a:r>
          </a:p>
          <a:p>
            <a:pPr/>
            <a:r>
              <a:rPr sz="1800"/>
              <a:t>Verify: You can locate one record using a value entered through the form, and re-open the form to edit that record.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Preclinical MRI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`tcia_mouse_astrocytoma_mri`</a:t>
            </a:r>
          </a:p>
          <a:p>
            <a:pPr/>
            <a:r>
              <a:rPr sz="2000"/>
              <a:t>Goal: Confirm that XNAT's data model — project / subject / session / scan / resource — works unchanged for preclinical imaging, and recognise which metadata fields are missing by default.</a:t>
            </a:r>
          </a:p>
          <a:p>
            <a:pPr lvl="1"/>
            <a:r>
              <a:rPr sz="1600"/>
              <a:t>1. Load tcia_mouse_astrocytoma_mri into a tutorial project.</a:t>
            </a:r>
          </a:p>
          <a:p>
            <a:pPr lvl="1"/>
            <a:r>
              <a:rPr sz="1600"/>
              <a:t>2. Walk the hierarchy</a:t>
            </a:r>
          </a:p>
          <a:p>
            <a:pPr lvl="1"/>
            <a:r>
              <a:rPr sz="1600"/>
              <a:t>3. Open one DICOM file and inspect the headers.</a:t>
            </a:r>
          </a:p>
          <a:p>
            <a:pPr lvl="1"/>
            <a:r>
              <a:rPr sz="1600"/>
              <a:t>4. Note which fields the scanner records: modality, body part, field</a:t>
            </a:r>
          </a:p>
          <a:p>
            <a:pPr lvl="1"/>
            <a:r>
              <a:rPr sz="1600"/>
              <a:t>5. Note which fields preclinical work usually wants but **DICOM does not</a:t>
            </a:r>
          </a:p>
          <a:p>
            <a:pPr/>
            <a:r>
              <a:rPr sz="1800"/>
              <a:t>Verify: You can list one imaging field stored automatically (e.g. field strength or modality) and one preclinical field that is not (e.g. anaesthesia or strain).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Advanced — multi-step pipelines, 30 min+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BIDS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`bidscoin_dicom_to_bids`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nnU-Net dataset builder (MSD Hippocampus)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600"/>
              <a:t>1. Open the Group-Level tutorial loader (Admin → Group-Level Datasets</a:t>
            </a:r>
          </a:p>
          <a:p>
            <a:pPr lvl="1"/>
            <a:r>
              <a:rPr sz="1600"/>
              <a:t>2. Pick MSD Task04 Hippocampus.</a:t>
            </a:r>
          </a:p>
          <a:p>
            <a:pPr lvl="1"/>
            <a:r>
              <a:rPr sz="1600"/>
              <a:t>3. Pick the smoke subset (default) for tutorials. Larger subsets are</a:t>
            </a:r>
          </a:p>
          <a:p>
            <a:pPr lvl="1"/>
            <a:r>
              <a:rPr sz="1600"/>
              <a:t>4. Run the import. Watch the progress per case.</a:t>
            </a:r>
          </a:p>
          <a:p>
            <a:pPr lvl="1"/>
            <a:r>
              <a:rPr sz="1600"/>
              <a:t>5. When done, open the project. Confirm subjects, sessions, and scan</a:t>
            </a:r>
          </a:p>
          <a:p>
            <a:pPr/>
            <a:r>
              <a:rPr sz="1800"/>
              <a:t>Verify: You can find the MSD case ID, the source image, and the label volume for the same subject without ambiguity.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RABIES — rodent fMRI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Verify: Open the HTML QC report and one motion / confound output. The report should match the subject and session you launched, and the directory names should match the RABIES stage.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FitLins 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Goal: Run (or review) FitLins on a multi-subject BIDS project, then explain where group-level outputs belong in the XNAT data model.</a:t>
            </a:r>
          </a:p>
          <a:p>
            <a:pPr lvl="1"/>
            <a:r>
              <a:rPr sz="1600"/>
              <a:t>1. Open the project. Confirm a BIDS resource at session or project</a:t>
            </a:r>
          </a:p>
          <a:p>
            <a:pPr lvl="1"/>
            <a:r>
              <a:rPr sz="1600"/>
              <a:t>2. Open one subject's anatomical and functional resources. Compare to</a:t>
            </a:r>
          </a:p>
          <a:p>
            <a:pPr lvl="1"/>
            <a:r>
              <a:rPr sz="1600"/>
              <a:t>3. Decide where group-level output should land in XNAT. Three options:</a:t>
            </a:r>
          </a:p>
          <a:p>
            <a:pPr lvl="1"/>
            <a:r>
              <a:rPr sz="1600"/>
              <a:t>4. Launch the FitLins wrapper. Watch command history.</a:t>
            </a:r>
          </a:p>
          <a:p>
            <a:pPr lvl="1"/>
            <a:r>
              <a:rPr sz="1600"/>
              <a:t>5. Open the resulting output. Note that the input is a BIDS layout</a:t>
            </a:r>
          </a:p>
          <a:p>
            <a:pPr/>
            <a:r>
              <a:rPr sz="1800"/>
              <a:t>Verify: You can open one model definition and one group-level contrast volume from the FitLins output, and explain why the result is **not** attached to a single subject's session.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TotalSegmentator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Verify: For RTStruct: open OHIF, load the imported ROI collection, and confirm large organs (liver, spleen, kidneys) sit on the expected anatomy when you scroll through slices.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Admin — site configuration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Service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any small</a:t>
            </a:r>
          </a:p>
          <a:p>
            <a:pPr/>
            <a:r>
              <a:rPr sz="2000"/>
              <a:t>Goal: Enable XNAT Event Service on a training site and identify a safe trigger / action pair before subscribing real automations.</a:t>
            </a:r>
          </a:p>
          <a:p>
            <a:pPr lvl="1"/>
            <a:r>
              <a:rPr sz="1600"/>
              <a:t>1. Log in as a site admin.</a:t>
            </a:r>
          </a:p>
          <a:p>
            <a:pPr lvl="1"/>
            <a:r>
              <a:rPr sz="1600"/>
              <a:t>2. Open Administer → Event Service.</a:t>
            </a:r>
          </a:p>
          <a:p>
            <a:pPr lvl="1"/>
            <a:r>
              <a:rPr sz="1600"/>
              <a:t>3. On Event Setup, set Event Service to enabled.</a:t>
            </a:r>
          </a:p>
          <a:p>
            <a:pPr lvl="1"/>
            <a:r>
              <a:rPr sz="1600"/>
              <a:t>4. Open Event Service History. Review whether any events have</a:t>
            </a:r>
          </a:p>
          <a:p>
            <a:pPr lvl="1"/>
            <a:r>
              <a:rPr sz="1600"/>
              <a:t>5. If the class will use container actions, confirm Container Service is</a:t>
            </a:r>
          </a:p>
          <a:p>
            <a:pPr/>
            <a:r>
              <a:rPr sz="1800"/>
              <a:t>Verify: Trigger the event by archiving a tutorial session ([intro/03-dicom-import-archive](../intro/03-dicom-import-archive.md)) and confirm a new entry appears in Event Service History.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any</a:t>
            </a:r>
          </a:p>
          <a:p>
            <a:pPr/>
            <a:r>
              <a:rPr sz="2000"/>
              <a:t>Goal: Diagnose whether a missing tutorial command is a **site registration** problem, a **project enablement** problem, or a **missing resource** problem — and fix it without touching unrelated configuration.</a:t>
            </a:r>
          </a:p>
          <a:p>
            <a:pPr lvl="1"/>
            <a:r>
              <a:rPr sz="1600"/>
              <a:t>1. Open **Administer → Plugin Settings → Container Service →</a:t>
            </a:r>
          </a:p>
          <a:p>
            <a:pPr lvl="1"/>
            <a:r>
              <a:rPr sz="1600"/>
              <a:t>2. Confirm the command's Docker image is listed and pulled. If not, pull</a:t>
            </a:r>
          </a:p>
          <a:p>
            <a:pPr lvl="1"/>
            <a:r>
              <a:rPr sz="1600"/>
              <a:t>3. Confirm the command JSON is registered. If it is missing, install the</a:t>
            </a:r>
          </a:p>
          <a:p>
            <a:pPr lvl="1"/>
            <a:r>
              <a:rPr sz="1600"/>
              <a:t>4. Open the command and confirm it has at least one wrapper.</a:t>
            </a:r>
          </a:p>
          <a:p>
            <a:pPr lvl="1"/>
            <a:r>
              <a:rPr sz="1600"/>
              <a:t>5. Open the project. Open **Project Settings → Container Service →</a:t>
            </a:r>
          </a:p>
          <a:p>
            <a:pPr/>
            <a:r>
              <a:rPr sz="1800"/>
              <a:t>Verify: A test launch on a tutorial dataset (e.g. dcm2niix against tcia_dicom_intro) reaches Complete and writes its output resource.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Plugin loader — instructor / admin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800"/>
              <a:t>Dataset: any from</a:t>
            </a:r>
          </a:p>
          <a:p>
            <a:pPr/>
            <a:r>
              <a:rPr sz="2000"/>
              <a:t>Goal: Pre-load tutorial datasets in bulk before a workshop, verify they imported cleanly, and know how to reset a tutorial project quickly between sessions.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find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200"/>
              <a:t>Repo: github.com/xnatworks/xnat_tutorial_datasets</a:t>
            </a:r>
          </a:p>
          <a:p>
            <a:pPr/>
            <a:r>
              <a:rPr sz="2200"/>
              <a:t>Hosted demo: https://demo.pro.xnatworks.io</a:t>
            </a:r>
          </a:p>
          <a:p>
            <a:pPr/>
            <a:r>
              <a:rPr sz="2200"/>
              <a:t>Datasets reference: DATASETS.md</a:t>
            </a:r>
          </a:p>
          <a:p>
            <a:pPr/>
            <a:r>
              <a:rPr sz="2200"/>
              <a:t>Workshop agendas: tutorials/reference/workshop-agendas.md</a:t>
            </a:r>
          </a:p>
          <a:p>
            <a:pPr/>
            <a:r>
              <a:rPr sz="2200"/>
              <a:t>REST cheatsheet: tutorials/reference/rest-cheatsheet.md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XNAT project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200"/>
              <a:t>xnat.org — project home</a:t>
            </a:r>
          </a:p>
          <a:p>
            <a:pPr/>
            <a:r>
              <a:rPr sz="2200"/>
              <a:t>xnat.org/download/ — download XNAT</a:t>
            </a:r>
          </a:p>
          <a:p>
            <a:pPr/>
            <a:r>
              <a:rPr sz="2200"/>
              <a:t>wiki.xnat.org — admin and user wiki</a:t>
            </a:r>
          </a:p>
          <a:p>
            <a:pPr/>
            <a:r>
              <a:rPr sz="2200"/>
              <a:t>xnat.readthedocs.io/en/stable/ — Read the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