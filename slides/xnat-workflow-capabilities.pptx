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Ingest stage of the XNAT workflow. Capability bullets are taken verbatim from the XNAT Workflow &amp; Capabilities slide. Tutorial pointers are slugs under tutorials/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Curate stage of the XNAT workflow. Capability bullets are taken verbatim from the XNAT Workflow &amp; Capabilities slide. Tutorial pointers are slugs under tutorials/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Annotate stage of the XNAT workflow. Capability bullets are taken verbatim from the XNAT Workflow &amp; Capabilities slide. Tutorial pointers are slugs under tutorials/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stage of the XNAT workflow. Capability bullets are taken verbatim from the XNAT Workflow &amp; Capabilities slide. Tutorial pointers are slugs under tutorials/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 stage of the XNAT workflow. Capability bullets are taken verbatim from the XNAT Workflow &amp; Capabilities slide. Tutorial pointers are slugs under tutorials/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stage of the XNAT workflow. Capability bullets are taken verbatim from the XNAT Workflow &amp; Capabilities slide. Tutorial pointers are slugs under tutorials/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XNAT Workflow &amp;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Six stages: Ingest → Curate → Annotate → Compute → Analyze → Publish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i="1"/>
              <a:t>Capture imaging data into XNAT — scanner, PACS, browser, or REST</a:t>
            </a:r>
          </a:p>
          <a:p>
            <a:pPr lvl="1"/>
            <a:r>
              <a:rPr sz="1800"/>
              <a:t>DICOM C-STORE receiver: scanners send straight to the prearchive</a:t>
            </a:r>
          </a:p>
          <a:p>
            <a:pPr lvl="1"/>
            <a:r>
              <a:rPr sz="1800"/>
              <a:t>C-MOVE / Q-Retrieve from PACS via XNAT's DICOM SCU</a:t>
            </a:r>
          </a:p>
          <a:p>
            <a:pPr lvl="1"/>
            <a:r>
              <a:rPr sz="1800"/>
              <a:t>Browser upload, XNAT Desktop Client, REST PUT, and ZIP upload</a:t>
            </a:r>
          </a:p>
          <a:p>
            <a:pPr lvl="1"/>
            <a:r>
              <a:rPr sz="1800"/>
              <a:t>Site- and project-level DICOM anonymisation scripts (CTP rules)</a:t>
            </a:r>
          </a:p>
          <a:p>
            <a:pPr lvl="1"/>
            <a:r>
              <a:rPr sz="1800"/>
              <a:t>Pixel-level PHI removal (e.g. dicom-deid-ocr container)</a:t>
            </a:r>
          </a:p>
          <a:p>
            <a:pPr lvl="1"/>
            <a:r>
              <a:rPr sz="1800"/>
              <a:t>Optional de-facing on structural MR before archive</a:t>
            </a:r>
          </a:p>
          <a:p>
            <a:pPr lvl="1"/>
            <a:r>
              <a:rPr sz="1800"/>
              <a:t>Modality-agnostic: MR, CT, PET, US, OCT, micro-CT/MR, more</a:t>
            </a:r>
          </a:p>
          <a:p>
            <a:pPr lvl="1"/>
            <a:r>
              <a:rPr sz="1800"/>
              <a:t>Native handling of DICOM, NIfTI, BIDS, TIFF, vendor formats</a:t>
            </a:r>
          </a:p>
          <a:p>
            <a:r>
              <a:rPr sz="1600" b="1"/>
              <a:t>Tutorials demonstrating this stage:</a:t>
            </a:r>
          </a:p>
          <a:p>
            <a:pPr lvl="1"/>
            <a:r>
              <a:rPr sz="1500"/>
              <a:t>intro/03 — DICOM import and archive</a:t>
            </a:r>
          </a:p>
          <a:p>
            <a:pPr lvl="1"/>
            <a:r>
              <a:rPr sz="1500"/>
              <a:t>intermediate/02 — De-identification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i="1"/>
              <a:t>Stage, review, and harmonise before data lands in the archive</a:t>
            </a:r>
          </a:p>
          <a:p>
            <a:pPr lvl="1"/>
            <a:r>
              <a:rPr sz="1800"/>
              <a:t>Automated QC as session assessors (MRIQC, custom containers)</a:t>
            </a:r>
          </a:p>
          <a:p>
            <a:pPr lvl="1"/>
            <a:r>
              <a:rPr sz="1800"/>
              <a:t>Manual review with notes per scan / session, role-based gating</a:t>
            </a:r>
          </a:p>
          <a:p>
            <a:pPr lvl="1"/>
            <a:r>
              <a:rPr sz="1800"/>
              <a:t>Prearchive staging — reroute, edit, archive, or reject pre-commit</a:t>
            </a:r>
          </a:p>
          <a:p>
            <a:pPr lvl="1"/>
            <a:r>
              <a:rPr sz="1800"/>
              <a:t>Series-importer rules harmonise scan-type labels at archive time</a:t>
            </a:r>
          </a:p>
          <a:p>
            <a:pPr lvl="1"/>
            <a:r>
              <a:rPr sz="1800"/>
              <a:t>Project- and cohort-level dashboards over the data table</a:t>
            </a:r>
          </a:p>
          <a:p>
            <a:pPr lvl="1"/>
            <a:r>
              <a:rPr sz="1800"/>
              <a:t>Custom forms and dynamic data types for clinical / genomic metadata</a:t>
            </a:r>
          </a:p>
          <a:p>
            <a:pPr lvl="1"/>
            <a:r>
              <a:rPr sz="1800"/>
              <a:t>Format conversion through containers (dcm2niix, dcm2bids, etc.)</a:t>
            </a:r>
          </a:p>
          <a:p>
            <a:r>
              <a:rPr sz="1600" b="1"/>
              <a:t>Tutorials demonstrating this stage:</a:t>
            </a:r>
          </a:p>
          <a:p>
            <a:pPr lvl="1"/>
            <a:r>
              <a:rPr sz="1500"/>
              <a:t>intro/04 — Read DICOM headers</a:t>
            </a:r>
          </a:p>
          <a:p>
            <a:pPr lvl="1"/>
            <a:r>
              <a:rPr sz="1500"/>
              <a:t>intermediate/01 — DICOM to NIfTI with dcm2niix</a:t>
            </a:r>
          </a:p>
          <a:p>
            <a:pPr lvl="1"/>
            <a:r>
              <a:rPr sz="1500"/>
              <a:t>intermediate/06 — MRIQC assessor</a:t>
            </a:r>
          </a:p>
          <a:p>
            <a:pPr lvl="1"/>
            <a:r>
              <a:rPr sz="1500"/>
              <a:t>intermediate/07 — Dynamic data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i="1"/>
              <a:t>Mark up images and capture structured reads inside XNAT</a:t>
            </a:r>
          </a:p>
          <a:p>
            <a:pPr lvl="1"/>
            <a:r>
              <a:rPr sz="1800"/>
              <a:t>OHIF Viewer plugin for in-browser DICOM review</a:t>
            </a:r>
          </a:p>
          <a:p>
            <a:pPr lvl="1"/>
            <a:r>
              <a:rPr sz="1800"/>
              <a:t>ROI / contour / measurement tools, persisted as ROI Collection assessors</a:t>
            </a:r>
          </a:p>
          <a:p>
            <a:pPr lvl="1"/>
            <a:r>
              <a:rPr sz="1800"/>
              <a:t>AI-assisted segmentation (DEXTR3D, Deepgrow, TotalSegmentator)</a:t>
            </a:r>
          </a:p>
          <a:p>
            <a:pPr lvl="1"/>
            <a:r>
              <a:rPr sz="1800"/>
              <a:t>Custom-form templates for structured reads, ratings, and QC reviews</a:t>
            </a:r>
          </a:p>
          <a:p>
            <a:pPr lvl="1"/>
            <a:r>
              <a:rPr sz="1800"/>
              <a:t>Rapid reader module for high-throughput case review</a:t>
            </a:r>
          </a:p>
          <a:p>
            <a:pPr lvl="1"/>
            <a:r>
              <a:rPr sz="1800"/>
              <a:t>Blinded reader mode with assignment list and audit trail</a:t>
            </a:r>
          </a:p>
          <a:p>
            <a:pPr lvl="1"/>
            <a:r>
              <a:rPr sz="1800"/>
              <a:t>Radreport.org plugin for structured reporting</a:t>
            </a:r>
          </a:p>
          <a:p>
            <a:r>
              <a:rPr sz="1600" b="1"/>
              <a:t>Tutorials demonstrating this stage:</a:t>
            </a:r>
          </a:p>
          <a:p>
            <a:pPr lvl="1"/>
            <a:r>
              <a:rPr sz="1500"/>
              <a:t>intro/05 — Open a scan in the viewer</a:t>
            </a:r>
          </a:p>
          <a:p>
            <a:pPr lvl="1"/>
            <a:r>
              <a:rPr sz="1500"/>
              <a:t>intro/09 — Atlases and overlays (Open with Workbench)</a:t>
            </a:r>
          </a:p>
          <a:p>
            <a:pPr lvl="1"/>
            <a:r>
              <a:rPr sz="1500"/>
              <a:t>intermediate/08 — Custom forms</a:t>
            </a:r>
          </a:p>
          <a:p>
            <a:pPr lvl="1"/>
            <a:r>
              <a:rPr sz="1500"/>
              <a:t>advanced/05 — TotalSegmentator (AI-assisted RTStruct)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i="1"/>
              <a:t>Run reproducible processing as scan / session / project containers</a:t>
            </a:r>
          </a:p>
          <a:p>
            <a:pPr lvl="1"/>
            <a:r>
              <a:rPr sz="1800"/>
              <a:t>Container Service: register, enable, and launch wrappers per project</a:t>
            </a:r>
          </a:p>
          <a:p>
            <a:pPr lvl="1"/>
            <a:r>
              <a:rPr sz="1800"/>
              <a:t>HPC submission via Slurm, Torque, PBS, or LSF adapters</a:t>
            </a:r>
          </a:p>
          <a:p>
            <a:pPr lvl="1"/>
            <a:r>
              <a:rPr sz="1800"/>
              <a:t>Batch processing dashboard across projects and pipelines</a:t>
            </a:r>
          </a:p>
          <a:p>
            <a:pPr lvl="1"/>
            <a:r>
              <a:rPr sz="1800"/>
              <a:t>Live container logs (stdout / stderr, Tensorboard) in command history</a:t>
            </a:r>
          </a:p>
          <a:p>
            <a:pPr lvl="1"/>
            <a:r>
              <a:rPr sz="1800"/>
              <a:t>Event Service triggers — auto-run on archive, assessor create, etc.</a:t>
            </a:r>
          </a:p>
          <a:p>
            <a:r>
              <a:rPr sz="1600" b="1"/>
              <a:t>Tutorials demonstrating this stage:</a:t>
            </a:r>
          </a:p>
          <a:p>
            <a:pPr lvl="1"/>
            <a:r>
              <a:rPr sz="1500"/>
              <a:t>intermediate/05 — Container launch basics</a:t>
            </a:r>
          </a:p>
          <a:p>
            <a:pPr lvl="1"/>
            <a:r>
              <a:rPr sz="1500"/>
              <a:t>admin/01 — Event Service setup</a:t>
            </a:r>
          </a:p>
          <a:p>
            <a:pPr lvl="1"/>
            <a:r>
              <a:rPr sz="1500"/>
              <a:t>admin/02 — Command enablement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i="1"/>
              <a:t>Notebook and script access to every XNAT object</a:t>
            </a:r>
          </a:p>
          <a:p>
            <a:pPr lvl="1"/>
            <a:r>
              <a:rPr sz="1800"/>
              <a:t>JupyterHub plugin — notebooks scoped per project, no data egress</a:t>
            </a:r>
          </a:p>
          <a:p>
            <a:pPr lvl="1"/>
            <a:r>
              <a:rPr sz="1800"/>
              <a:t>NVIDIA Clara / MONAI Label workflows for interactive ML</a:t>
            </a:r>
          </a:p>
          <a:p>
            <a:pPr lvl="1"/>
            <a:r>
              <a:rPr sz="1800"/>
              <a:t>Group-Level loader for nnU-Net-style train / test / val datasets</a:t>
            </a:r>
          </a:p>
          <a:p>
            <a:pPr lvl="1"/>
            <a:r>
              <a:rPr sz="1800"/>
              <a:t>xnatpy / xnat-tools / Groovy scripting against the XAPI</a:t>
            </a:r>
          </a:p>
          <a:p>
            <a:pPr lvl="1"/>
            <a:r>
              <a:rPr sz="1800"/>
              <a:t>Local viewer integrations — 3D Slicer (XNATSlicer), MITK, CapTk</a:t>
            </a:r>
          </a:p>
          <a:p>
            <a:r>
              <a:rPr sz="1600" b="1"/>
              <a:t>Tutorials demonstrating this stage:</a:t>
            </a:r>
          </a:p>
          <a:p>
            <a:pPr lvl="1"/>
            <a:r>
              <a:rPr sz="1500"/>
              <a:t>advanced/01 — Complete BIDS workflow</a:t>
            </a:r>
          </a:p>
          <a:p>
            <a:pPr lvl="1"/>
            <a:r>
              <a:rPr sz="1500"/>
              <a:t>advanced/02 — nnU-Net dataset builder</a:t>
            </a:r>
          </a:p>
          <a:p>
            <a:pPr lvl="1"/>
            <a:r>
              <a:rPr sz="1500"/>
              <a:t>advanced/04 — FitLins group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i="1"/>
              <a:t>Share scoped to project, instance, federation, or public registry</a:t>
            </a:r>
          </a:p>
          <a:p>
            <a:pPr lvl="1"/>
            <a:r>
              <a:rPr sz="1800"/>
              <a:t>Cross-project sharing via shared subjects and shared experiments</a:t>
            </a:r>
          </a:p>
          <a:p>
            <a:pPr lvl="1"/>
            <a:r>
              <a:rPr sz="1800"/>
              <a:t>Cross-instance sharing via XNAT-to-XNAT replication and export</a:t>
            </a:r>
          </a:p>
          <a:p>
            <a:pPr lvl="1"/>
            <a:r>
              <a:rPr sz="1800"/>
              <a:t>Federated query and dataset assembly across linked XNAT sites</a:t>
            </a:r>
          </a:p>
          <a:p>
            <a:pPr lvl="1"/>
            <a:r>
              <a:rPr sz="1800"/>
              <a:t>Curated push to TCIA / OpenNeuro via export wrappers</a:t>
            </a:r>
          </a:p>
          <a:p>
            <a:pPr lvl="1"/>
            <a:r>
              <a:rPr sz="1800"/>
              <a:t>Curated push to Imaging Data Commons / Brainlife.io via containers</a:t>
            </a:r>
          </a:p>
          <a:p>
            <a:r>
              <a:rPr sz="1600" b="1"/>
              <a:t>Tutorials demonstrating this stage:</a:t>
            </a:r>
          </a:p>
          <a:p>
            <a:pPr lvl="1"/>
            <a:r>
              <a:rPr sz="1500"/>
              <a:t>(no dedicated lesson yet — sharing / export to be added)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